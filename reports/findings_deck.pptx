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4E79"/>
                </a:solidFill>
              </a:defRPr>
            </a:pPr>
            <a:r>
              <a:t>Student spending: where it goes and how to steer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55B63"/>
                </a:solidFill>
              </a:defRPr>
            </a:pPr>
            <a:r>
              <a:t>Findings from a synthetic dataset of 150 students over 24 months.</a:t>
            </a:r>
          </a:p>
          <a:p>
            <a:pPr>
              <a:spcAft>
                <a:spcPts val="800"/>
              </a:spcAft>
              <a:defRPr sz="1800" b="0">
                <a:solidFill>
                  <a:srgbClr val="555B63"/>
                </a:solidFill>
              </a:defRPr>
            </a:pPr>
            <a:r>
              <a:t>Synthetic data: results describe the analysis pipeline, not real students.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4E79"/>
                </a:solidFill>
              </a:defRPr>
            </a:pPr>
            <a:r>
              <a:t>Half of spending is fixed; groceries and dining lead the rest</a:t>
            </a:r>
          </a:p>
        </p:txBody>
      </p:sp>
      <p:pic>
        <p:nvPicPr>
          <p:cNvPr id="3" name="Picture 2" descr="fig_spend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5544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Rent and tuition are 50% of all spend.</a:t>
            </a:r>
          </a:p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Of the controllable part, groceries and dining make up 60%.</a:t>
            </a:r>
          </a:p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Median student: $922/month variable spend (p10 $691, p90 $1,183).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4E79"/>
                </a:solidFill>
              </a:defRPr>
            </a:pPr>
            <a:r>
              <a:t>Dining spend rises about 30% in exam months</a:t>
            </a:r>
          </a:p>
        </p:txBody>
      </p:sp>
      <p:pic>
        <p:nvPicPr>
          <p:cNvPr id="3" name="Picture 2" descr="fig_exam_d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669280" cy="3968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5544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+$64/month per student (95% CI $55 to $74).</a:t>
            </a:r>
          </a:p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Paired Wilcoxon signed-rank across 150 students, p = 6.1e-22.</a:t>
            </a:r>
          </a:p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Implication: budgets should flex by month rather than stay flat.</a:t>
            </a:r>
          </a:p>
          <a:p>
            <a:pPr>
              <a:spcAft>
                <a:spcPts val="800"/>
              </a:spcAft>
              <a:defRPr sz="1600" b="0">
                <a:solidFill>
                  <a:srgbClr val="555B63"/>
                </a:solidFill>
              </a:defRPr>
            </a:pPr>
            <a:r>
              <a:t>The effect is built into the simulator, so this shows the method, not a real-world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4E79"/>
                </a:solidFill>
              </a:defRPr>
            </a:pPr>
            <a:r>
              <a:t>Forecasts beat simple baselines, with intervals that hold up</a:t>
            </a:r>
          </a:p>
        </p:txBody>
      </p:sp>
      <p:pic>
        <p:nvPicPr>
          <p:cNvPr id="3" name="Picture 2" descr="fig_foreca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314348"/>
          </a:xfrm>
          <a:prstGeom prst="rect">
            <a:avLst/>
          </a:prstGeom>
        </p:spPr>
      </p:pic>
      <p:pic>
        <p:nvPicPr>
          <p:cNvPr id="4" name="Picture 3" descr="fig_interval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120640" cy="3537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29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55B63"/>
                </a:solidFill>
              </a:defRPr>
            </a:pPr>
            <a:r>
              <a:t>Gradient boosting MAE $77 vs $90 for the best baseline (15% better), walk-forward, no leakage.</a:t>
            </a:r>
          </a:p>
          <a:p>
            <a:pPr>
              <a:spcAft>
                <a:spcPts val="800"/>
              </a:spcAft>
              <a:defRPr sz="1500" b="0">
                <a:solidFill>
                  <a:srgbClr val="555B63"/>
                </a:solidFill>
              </a:defRPr>
            </a:pPr>
            <a:r>
              <a:t>Raw 80% intervals covered 77.3%; after conformal calibration 80.2%.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4E79"/>
                </a:solidFill>
              </a:defRPr>
            </a:pPr>
            <a:r>
              <a:t>Nudges: a usable trigger, and an honest test design</a:t>
            </a:r>
          </a:p>
        </p:txBody>
      </p:sp>
      <p:pic>
        <p:nvPicPr>
          <p:cNvPr id="3" name="Picture 2" descr="fig_nudge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3135086"/>
          </a:xfrm>
          <a:prstGeom prst="rect">
            <a:avLst/>
          </a:prstGeom>
        </p:spPr>
      </p:pic>
      <p:pic>
        <p:nvPicPr>
          <p:cNvPr id="4" name="Picture 3" descr="fig_ab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33762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463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55B63"/>
                </a:solidFill>
              </a:defRPr>
            </a:pPr>
            <a:r>
              <a:t>Day-15 pace trigger (tau 1.1): precision 68% and recall 74% on held-out months, vs 37% if everyone were nudged.</a:t>
            </a:r>
          </a:p>
          <a:p>
            <a:pPr>
              <a:spcAft>
                <a:spcPts val="800"/>
              </a:spcAft>
              <a:defRPr sz="1500" b="0">
                <a:solidFill>
                  <a:srgbClr val="555B63"/>
                </a:solidFill>
              </a:defRPr>
            </a:pPr>
            <a:r>
              <a:t>Simulated A/B (assumed 10% effect): needs about 6,509 cases per arm, or 2,763 with CUPED variance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4E79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55B63"/>
                </a:solidFill>
              </a:defRPr>
            </a:pPr>
            <a:r>
              <a:t>Data is synthetic; every effect size and rate reflects simulator assumptions.</a:t>
            </a:r>
          </a:p>
          <a:p>
            <a:pPr>
              <a:spcAft>
                <a:spcPts val="800"/>
              </a:spcAft>
              <a:defRPr sz="1800" b="0">
                <a:solidFill>
                  <a:srgbClr val="555B63"/>
                </a:solidFill>
              </a:defRPr>
            </a:pPr>
            <a:r>
              <a:t>Categorisation on merchants never seen in training: hybrid covers 73% at 99% accuracy; the rest goes to review.</a:t>
            </a:r>
          </a:p>
          <a:p>
            <a:pPr>
              <a:spcAft>
                <a:spcPts val="800"/>
              </a:spcAft>
              <a:defRPr sz="1800" b="0">
                <a:solidFill>
                  <a:srgbClr val="555B63"/>
                </a:solidFill>
              </a:defRPr>
            </a:pPr>
            <a:r>
              <a:t>Anomaly rules catch 93% of injected anomalies but only 31% of flags are real: review queues need triage.</a:t>
            </a:r>
          </a:p>
          <a:p>
            <a:pPr>
              <a:spcAft>
                <a:spcPts val="800"/>
              </a:spcAft>
              <a:defRPr sz="1800" b="0">
                <a:solidFill>
                  <a:srgbClr val="555B63"/>
                </a:solidFill>
              </a:defRPr>
            </a:pPr>
            <a:r>
              <a:t>Next: pretrained text embeddings or an LLM for unseen merchants; validate on real, consented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